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embeddedFontLst>
    <p:embeddedFont>
      <p:font typeface="Nanum Gothic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QdER77RM5P2052Uh00lw1qzMm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NanumGothic-bold.fntdata"/><Relationship Id="rId6" Type="http://schemas.openxmlformats.org/officeDocument/2006/relationships/slide" Target="slides/slide2.xml"/><Relationship Id="rId18" Type="http://schemas.openxmlformats.org/officeDocument/2006/relationships/font" Target="fonts/NanumGothic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" name="Google Shape;2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332a3eccb_0_146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e332a3eccb_0_14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332a3eccb_0_153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e332a3eccb_0_15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332a3eccb_0_162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e332a3eccb_0_16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_1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-black.png" id="12" name="Google Shape;12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7173" y="6357225"/>
            <a:ext cx="259650" cy="31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5"/>
          <p:cNvSpPr/>
          <p:nvPr/>
        </p:nvSpPr>
        <p:spPr>
          <a:xfrm>
            <a:off x="850180" y="640080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DeepCube.AI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5"/>
          <p:cNvSpPr/>
          <p:nvPr/>
        </p:nvSpPr>
        <p:spPr>
          <a:xfrm>
            <a:off x="6262083" y="6400800"/>
            <a:ext cx="493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Confidential  ·  ©2026 DeepCube, Inc.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5"/>
          <p:cNvSpPr txBox="1"/>
          <p:nvPr/>
        </p:nvSpPr>
        <p:spPr>
          <a:xfrm>
            <a:off x="11274300" y="6357225"/>
            <a:ext cx="40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595959"/>
                </a:solidFill>
                <a:latin typeface="Nanum Gothic"/>
                <a:ea typeface="Nanum Gothic"/>
                <a:cs typeface="Nanum Gothic"/>
                <a:sym typeface="Nanum Gothic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e332a3eccb_0_21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algun Gothic"/>
              <a:buChar char="●"/>
              <a:defRPr b="0" i="0" sz="1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algun Gothic"/>
              <a:buChar char="○"/>
              <a:defRPr b="0" i="0" sz="1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algun Gothic"/>
              <a:buChar char="■"/>
              <a:defRPr b="0" i="0" sz="1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algun Gothic"/>
              <a:buChar char="●"/>
              <a:defRPr b="0" i="0" sz="1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algun Gothic"/>
              <a:buChar char="○"/>
              <a:defRPr b="0" i="0" sz="1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algun Gothic"/>
              <a:buChar char="■"/>
              <a:defRPr b="0" i="0" sz="1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algun Gothic"/>
              <a:buChar char="●"/>
              <a:defRPr b="0" i="0" sz="1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algun Gothic"/>
              <a:buChar char="○"/>
              <a:defRPr b="0" i="0" sz="1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algun Gothic"/>
              <a:buChar char="■"/>
              <a:defRPr b="0" i="0" sz="1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8" name="Google Shape;18;g3e332a3eccb_0_21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algun Gothic"/>
              <a:buChar char="●"/>
              <a:defRPr b="0" i="0" sz="1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92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algun Gothic"/>
              <a:buChar char="○"/>
              <a:defRPr b="0" i="0" sz="1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492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algun Gothic"/>
              <a:buChar char="■"/>
              <a:defRPr b="0" i="0" sz="1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92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algun Gothic"/>
              <a:buChar char="●"/>
              <a:defRPr b="0" i="0" sz="1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92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algun Gothic"/>
              <a:buChar char="○"/>
              <a:defRPr b="0" i="0" sz="1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92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algun Gothic"/>
              <a:buChar char="■"/>
              <a:defRPr b="0" i="0" sz="1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92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algun Gothic"/>
              <a:buChar char="●"/>
              <a:defRPr b="0" i="0" sz="1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92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algun Gothic"/>
              <a:buChar char="○"/>
              <a:defRPr b="0" i="0" sz="1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92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algun Gothic"/>
              <a:buChar char="■"/>
              <a:defRPr b="0" i="0" sz="1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9" name="Google Shape;19;g3e332a3eccb_0_218"/>
          <p:cNvSpPr txBox="1"/>
          <p:nvPr>
            <p:ph idx="12" type="sldNum"/>
          </p:nvPr>
        </p:nvSpPr>
        <p:spPr>
          <a:xfrm>
            <a:off x="11409033" y="6422612"/>
            <a:ext cx="7317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-white.png" id="25" name="Google Shape;25;p1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8108948" y="1234440"/>
            <a:ext cx="3138172" cy="3840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white.png" id="26" name="Google Shape;2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502920"/>
            <a:ext cx="336233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"/>
          <p:cNvSpPr/>
          <p:nvPr/>
        </p:nvSpPr>
        <p:spPr>
          <a:xfrm>
            <a:off x="1022033" y="5029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Deep³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1022033" y="84124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Malgun Gothic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The Deeper, The Wiser.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48640" y="2743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Company &amp; Product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48640" y="3108960"/>
            <a:ext cx="10058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Malgun Gothic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DeepCube.AI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48640" y="42519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FAFE"/>
              </a:buClr>
              <a:buSzPts val="2600"/>
              <a:buFont typeface="Malgun Gothic"/>
              <a:buNone/>
            </a:pPr>
            <a:r>
              <a:rPr b="0" i="0" lang="en-US" sz="2900" u="none" cap="none" strike="noStrike">
                <a:solidFill>
                  <a:srgbClr val="FE75EE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Agentic AI Studio+</a:t>
            </a:r>
            <a:endParaRPr b="0" i="0" sz="2900" u="none" cap="none" strike="noStrike">
              <a:solidFill>
                <a:srgbClr val="FE75E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48640" y="48920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프로그래밍 없이 누구나 구축하는 '탈 RAG' 기반 DB 직결형 Agentic AI Platform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p1"/>
          <p:cNvCxnSpPr/>
          <p:nvPr/>
        </p:nvCxnSpPr>
        <p:spPr>
          <a:xfrm>
            <a:off x="548640" y="5989320"/>
            <a:ext cx="11064240" cy="0"/>
          </a:xfrm>
          <a:prstGeom prst="straightConnector1">
            <a:avLst/>
          </a:prstGeom>
          <a:noFill/>
          <a:ln cap="flat" cmpd="sng" w="1905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1"/>
          <p:cNvSpPr/>
          <p:nvPr/>
        </p:nvSpPr>
        <p:spPr>
          <a:xfrm>
            <a:off x="548640" y="6115141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(주)딥큐브  |  DeepCube, Inc.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7955280" y="6115141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v2.2  · 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EXECUTIVE SUMMARY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한눈에 보는 DeepCube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48640" y="1874520"/>
            <a:ext cx="1280160" cy="384048"/>
          </a:xfrm>
          <a:prstGeom prst="rect">
            <a:avLst/>
          </a:prstGeom>
          <a:solidFill>
            <a:srgbClr val="CFFAFE"/>
          </a:solidFill>
          <a:ln cap="flat" cmpd="sng" w="12700">
            <a:solidFill>
              <a:srgbClr val="CFF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48640" y="1874520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E749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Company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2103120" y="1810512"/>
            <a:ext cx="9601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(주)딥큐브 · DeepCube, Inc.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103120" y="2240280"/>
            <a:ext cx="9601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2025년 설립된 AX(AI Transformation) 전문 Agentic AI Platform 기업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" name="Google Shape;47;p2"/>
          <p:cNvCxnSpPr/>
          <p:nvPr/>
        </p:nvCxnSpPr>
        <p:spPr>
          <a:xfrm>
            <a:off x="548640" y="2788920"/>
            <a:ext cx="1106424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2"/>
          <p:cNvSpPr/>
          <p:nvPr/>
        </p:nvSpPr>
        <p:spPr>
          <a:xfrm>
            <a:off x="548640" y="2926080"/>
            <a:ext cx="1280160" cy="384048"/>
          </a:xfrm>
          <a:prstGeom prst="rect">
            <a:avLst/>
          </a:prstGeom>
          <a:solidFill>
            <a:srgbClr val="CFFAFE"/>
          </a:solidFill>
          <a:ln cap="flat" cmpd="sng" w="12700">
            <a:solidFill>
              <a:srgbClr val="CFF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48640" y="2926080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E7490"/>
                </a:solidFill>
                <a:latin typeface="Malgun Gothic"/>
                <a:ea typeface="Malgun Gothic"/>
                <a:cs typeface="Malgun Gothic"/>
                <a:sym typeface="Malgun Gothic"/>
              </a:rPr>
              <a:t>Mission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2103120" y="2862072"/>
            <a:ext cx="9601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도입을 넘어, 경영·조직·업무 프로세스의 근본적 재편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103120" y="3291840"/>
            <a:ext cx="9601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단순 보조 도구가 아닌, 운영 DB와 직결되는 자율 에이전트로 업무 자동화 구현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" name="Google Shape;52;p2"/>
          <p:cNvCxnSpPr/>
          <p:nvPr/>
        </p:nvCxnSpPr>
        <p:spPr>
          <a:xfrm>
            <a:off x="548640" y="3840480"/>
            <a:ext cx="1106424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2"/>
          <p:cNvSpPr/>
          <p:nvPr/>
        </p:nvSpPr>
        <p:spPr>
          <a:xfrm>
            <a:off x="548640" y="3977640"/>
            <a:ext cx="1280160" cy="384048"/>
          </a:xfrm>
          <a:prstGeom prst="rect">
            <a:avLst/>
          </a:prstGeom>
          <a:solidFill>
            <a:srgbClr val="CFFAFE"/>
          </a:solidFill>
          <a:ln cap="flat" cmpd="sng" w="12700">
            <a:solidFill>
              <a:srgbClr val="CFF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48640" y="3977640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E7490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Product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2103120" y="3913632"/>
            <a:ext cx="9601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DeepCube.AI — Agentic AI Studio+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2103120" y="4343400"/>
            <a:ext cx="9601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프로그램 개발 없이 누구나 구축하는 '탈 RAG' 기반 DB 직결형 Agentic AI Platform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2"/>
          <p:cNvCxnSpPr/>
          <p:nvPr/>
        </p:nvCxnSpPr>
        <p:spPr>
          <a:xfrm>
            <a:off x="548640" y="4892040"/>
            <a:ext cx="1106424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2"/>
          <p:cNvSpPr/>
          <p:nvPr/>
        </p:nvSpPr>
        <p:spPr>
          <a:xfrm>
            <a:off x="548640" y="5029200"/>
            <a:ext cx="1280160" cy="384048"/>
          </a:xfrm>
          <a:prstGeom prst="rect">
            <a:avLst/>
          </a:prstGeom>
          <a:solidFill>
            <a:srgbClr val="CFFAFE"/>
          </a:solidFill>
          <a:ln cap="flat" cmpd="sng" w="12700">
            <a:solidFill>
              <a:srgbClr val="CFF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48640" y="5029200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E7490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Position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2103120" y="4965192"/>
            <a:ext cx="9601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Augmentation → Automation으로의 전환점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2103120" y="5394960"/>
            <a:ext cx="9601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탈 RAG · DB 직결 · HITL 거버넌스 — 시장이 지목한 AI 에이전트 실패 리스크의 정조준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8241850" y="1249125"/>
            <a:ext cx="398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도입, 결국 'RAG 챗봇'으로 수렴한다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Malgun Gothic"/>
              <a:buNone/>
            </a:pPr>
            <a:r>
              <a:rPr b="1" i="0" lang="en-US" sz="19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기업이 듣는 시나리오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48640" y="2240280"/>
            <a:ext cx="320040" cy="320040"/>
          </a:xfrm>
          <a:prstGeom prst="ellipse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48640" y="22402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051560" y="21945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"AI 안하면 뒤처진다는데…"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48640" y="2926080"/>
            <a:ext cx="320040" cy="320040"/>
          </a:xfrm>
          <a:prstGeom prst="ellipse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48640" y="29260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051560" y="28803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ChatGPT는 좋아 보이는데, 우리 회사엔?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48640" y="3611880"/>
            <a:ext cx="320040" cy="320040"/>
          </a:xfrm>
          <a:prstGeom prst="ellipse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48640" y="36118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051560" y="35661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전문업체 컨설팅 → "RAG 기반 챗봇 가능합니다"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48640" y="4297680"/>
            <a:ext cx="320040" cy="32004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48640" y="42976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051560" y="42519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결과: 내부문서 조회 챗봇, Local LLM ChatBot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400800" y="1737360"/>
            <a:ext cx="5212080" cy="429768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675120" y="187452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시장의 경고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675120" y="2286000"/>
            <a:ext cx="48463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Malgun Gothic"/>
              <a:buNone/>
            </a:pPr>
            <a:r>
              <a:rPr b="1" i="0" lang="en-US" sz="8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40%</a:t>
            </a:r>
            <a:endParaRPr b="0" i="0" sz="8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675120" y="3657600"/>
            <a:ext cx="4846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Gartner 예측 — 2027년까지 에이전트형 AI 프로젝트의 40% 이상이 비용·ROI·거버넌스 부재로 취소될 위험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3"/>
          <p:cNvCxnSpPr/>
          <p:nvPr/>
        </p:nvCxnSpPr>
        <p:spPr>
          <a:xfrm>
            <a:off x="6675120" y="4709160"/>
            <a:ext cx="4572000" cy="0"/>
          </a:xfrm>
          <a:prstGeom prst="straightConnector1">
            <a:avLst/>
          </a:prstGeom>
          <a:noFill/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3"/>
          <p:cNvSpPr/>
          <p:nvPr/>
        </p:nvSpPr>
        <p:spPr>
          <a:xfrm>
            <a:off x="6675120" y="4892040"/>
            <a:ext cx="4846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FAFE"/>
              </a:buClr>
              <a:buSzPts val="1200"/>
              <a:buFont typeface="Malgun Gothic"/>
              <a:buNone/>
            </a:pPr>
            <a:r>
              <a:rPr b="0" i="1" lang="en-US" sz="1200" u="none" cap="none" strike="noStrike">
                <a:solidFill>
                  <a:srgbClr val="CFFAFE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'탈 RAG·DB 직결·HITL 거버넌스'가 이 리스크에 대한 직접적 해답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OUR SOLUTION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DeepCube.AI는 무엇이 다른가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48640" y="1828800"/>
            <a:ext cx="3511296" cy="42976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48640" y="1828800"/>
            <a:ext cx="3511296" cy="10972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868680" y="2240280"/>
            <a:ext cx="777240" cy="777240"/>
          </a:xfrm>
          <a:prstGeom prst="ellipse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868680" y="224028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◆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868680" y="320040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탈 RAG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868680" y="36576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0E7490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직결형 Agentic AI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5"/>
          <p:cNvCxnSpPr/>
          <p:nvPr/>
        </p:nvCxnSpPr>
        <p:spPr>
          <a:xfrm>
            <a:off x="868680" y="4114800"/>
            <a:ext cx="1752000" cy="0"/>
          </a:xfrm>
          <a:prstGeom prst="straightConnector1">
            <a:avLst/>
          </a:prstGeom>
          <a:noFill/>
          <a:ln cap="flat" cmpd="sng" w="1905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5"/>
          <p:cNvSpPr/>
          <p:nvPr/>
        </p:nvSpPr>
        <p:spPr>
          <a:xfrm>
            <a:off x="868680" y="4297680"/>
            <a:ext cx="292608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사내 문서 검색 챗봇이 아닌, 운영 RDB(Oracle / MariaDB 등)에 MCP로 직접 연결되어 실제 업무 데이터를 자율 처리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242816" y="1828800"/>
            <a:ext cx="3511296" cy="42976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242816" y="1828800"/>
            <a:ext cx="3511296" cy="10972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562856" y="2240280"/>
            <a:ext cx="777240" cy="777240"/>
          </a:xfrm>
          <a:prstGeom prst="ellipse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562856" y="224028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▣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562856" y="320040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GUI 노코드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562856" y="36576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0E7490"/>
                </a:solidFill>
                <a:latin typeface="Malgun Gothic"/>
                <a:ea typeface="Malgun Gothic"/>
                <a:cs typeface="Malgun Gothic"/>
                <a:sym typeface="Malgun Gothic"/>
              </a:rPr>
              <a:t>Drag &amp; Drop Studio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5"/>
          <p:cNvCxnSpPr/>
          <p:nvPr/>
        </p:nvCxnSpPr>
        <p:spPr>
          <a:xfrm>
            <a:off x="4562856" y="4114800"/>
            <a:ext cx="1682700" cy="24600"/>
          </a:xfrm>
          <a:prstGeom prst="straightConnector1">
            <a:avLst/>
          </a:prstGeom>
          <a:noFill/>
          <a:ln cap="flat" cmpd="sng" w="1905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5"/>
          <p:cNvSpPr/>
          <p:nvPr/>
        </p:nvSpPr>
        <p:spPr>
          <a:xfrm>
            <a:off x="4562856" y="4297680"/>
            <a:ext cx="292608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프로그래밍 지식이 없어도 시나리오 편집기에서 워크플로우를 설계, 다양한 LLM·데이터소스 통합 가능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7936992" y="1828800"/>
            <a:ext cx="3511296" cy="42976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7936992" y="1828800"/>
            <a:ext cx="3511296" cy="10972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8257032" y="2240280"/>
            <a:ext cx="777240" cy="777240"/>
          </a:xfrm>
          <a:prstGeom prst="ellipse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8257032" y="224028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8257032" y="320040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HITL 거버넌스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8257032" y="36576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0E749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안전한 자율성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5"/>
          <p:cNvCxnSpPr/>
          <p:nvPr/>
        </p:nvCxnSpPr>
        <p:spPr>
          <a:xfrm flipH="1" rot="10800000">
            <a:off x="8257032" y="4102500"/>
            <a:ext cx="1074600" cy="12300"/>
          </a:xfrm>
          <a:prstGeom prst="straightConnector1">
            <a:avLst/>
          </a:prstGeom>
          <a:noFill/>
          <a:ln cap="flat" cmpd="sng" w="1905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5"/>
          <p:cNvSpPr/>
          <p:nvPr/>
        </p:nvSpPr>
        <p:spPr>
          <a:xfrm>
            <a:off x="8257032" y="4297680"/>
            <a:ext cx="292608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질의 적절성 검증 → SQL 미리보기·수정 → 승인 워크플로우 → 실행. 규제 산업(금융·공공)이 요구하는 감사 가능 구조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PRODUCT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5컴포넌트로 구성된 Agentic AI Platform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48640" y="1828800"/>
            <a:ext cx="11064240" cy="71323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48640" y="1828800"/>
            <a:ext cx="73152" cy="71323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822960" y="1828800"/>
            <a:ext cx="640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554480" y="1828800"/>
            <a:ext cx="2286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Editor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3931920" y="1828800"/>
            <a:ext cx="35661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3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0E7490"/>
                </a:solidFill>
                <a:latin typeface="Malgun Gothic"/>
                <a:ea typeface="Malgun Gothic"/>
                <a:cs typeface="Malgun Gothic"/>
                <a:sym typeface="Malgun Gothic"/>
              </a:rPr>
              <a:t>Studio (GUI 저작 도구)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7589520" y="1828800"/>
            <a:ext cx="40233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Drag &amp; Drop 워크플로우 · 직관적 시나리오 구현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48640" y="2633472"/>
            <a:ext cx="11064240" cy="71323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548640" y="2633472"/>
            <a:ext cx="73152" cy="71323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822960" y="2633472"/>
            <a:ext cx="640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554480" y="2633472"/>
            <a:ext cx="2286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3931920" y="2633472"/>
            <a:ext cx="35661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3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0E7490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Platform Engine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7589520" y="2633472"/>
            <a:ext cx="40233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LLM·RAG·Web 검색 시나리오 실행 · 고성능·안정성·확장성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48640" y="3438144"/>
            <a:ext cx="11064240" cy="71323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48640" y="3438144"/>
            <a:ext cx="73152" cy="71323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822960" y="3438144"/>
            <a:ext cx="640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554480" y="3438144"/>
            <a:ext cx="2286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UI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3931920" y="3438144"/>
            <a:ext cx="35661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3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0E7490"/>
                </a:solidFill>
                <a:latin typeface="Malgun Gothic"/>
                <a:ea typeface="Malgun Gothic"/>
                <a:cs typeface="Malgun Gothic"/>
                <a:sym typeface="Malgun Gothic"/>
              </a:rPr>
              <a:t>Portal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7589520" y="3438144"/>
            <a:ext cx="40233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사용자/권한 관리 · 모니터링 · 배포 관리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48640" y="4242816"/>
            <a:ext cx="11064240" cy="713232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48640" y="4242816"/>
            <a:ext cx="73152" cy="71323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822960" y="4242816"/>
            <a:ext cx="640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1554480" y="4242816"/>
            <a:ext cx="2286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3931920" y="4242816"/>
            <a:ext cx="35661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FAFE"/>
              </a:buClr>
              <a:buSzPts val="13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CFFAFE"/>
                </a:solidFill>
                <a:latin typeface="Malgun Gothic"/>
                <a:ea typeface="Malgun Gothic"/>
                <a:cs typeface="Malgun Gothic"/>
                <a:sym typeface="Malgun Gothic"/>
              </a:rPr>
              <a:t>MCP Agent  ★ 핵심 차별점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7589520" y="4242816"/>
            <a:ext cx="40233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FAFE"/>
              </a:buClr>
              <a:buSzPts val="11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CFFAFE"/>
                </a:solidFill>
                <a:latin typeface="Malgun Gothic"/>
                <a:ea typeface="Malgun Gothic"/>
                <a:cs typeface="Malgun Gothic"/>
                <a:sym typeface="Malgun Gothic"/>
              </a:rPr>
              <a:t>RDB MCP Server · 자연어 기반 RDB Agent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548640" y="5047488"/>
            <a:ext cx="11064240" cy="71323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48640" y="5047488"/>
            <a:ext cx="73152" cy="71323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822960" y="5047488"/>
            <a:ext cx="640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1554480" y="5047488"/>
            <a:ext cx="2286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RAGBuilder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3931920" y="5047488"/>
            <a:ext cx="35661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3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0E7490"/>
                </a:solidFill>
                <a:latin typeface="Malgun Gothic"/>
                <a:ea typeface="Malgun Gothic"/>
                <a:cs typeface="Malgun Gothic"/>
                <a:sym typeface="Malgun Gothic"/>
              </a:rPr>
              <a:t>RAG 구축 도구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7589520" y="5047488"/>
            <a:ext cx="40233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취합/정제 자동화 · 안정성 강화 · 최신 정보 제공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Malgun Gothic"/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직결형 자연어 RDB Agent가 시장 차별화의 핵심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3e332a3eccb_0_1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875" y="1518076"/>
            <a:ext cx="6887450" cy="4260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3e332a3eccb_0_146" title="스크린샷 2025-04-08 오후 4.52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2386" y="3084872"/>
            <a:ext cx="6045899" cy="3213841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10800000" dist="25400">
              <a:srgbClr val="000000">
                <a:alpha val="50196"/>
              </a:srgbClr>
            </a:outerShdw>
          </a:effectLst>
        </p:spPr>
      </p:pic>
      <p:sp>
        <p:nvSpPr>
          <p:cNvPr id="164" name="Google Shape;164;g3e332a3eccb_0_146"/>
          <p:cNvSpPr/>
          <p:nvPr/>
        </p:nvSpPr>
        <p:spPr>
          <a:xfrm>
            <a:off x="548640" y="41148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PRODUCT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e332a3eccb_0_146"/>
          <p:cNvSpPr/>
          <p:nvPr/>
        </p:nvSpPr>
        <p:spPr>
          <a:xfrm>
            <a:off x="548640" y="713232"/>
            <a:ext cx="10972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시나리오 작성  vs. 서비스 모니터링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332a3eccb_0_153"/>
          <p:cNvSpPr txBox="1"/>
          <p:nvPr/>
        </p:nvSpPr>
        <p:spPr>
          <a:xfrm>
            <a:off x="304644" y="1583563"/>
            <a:ext cx="166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Nanum Gothic"/>
                <a:ea typeface="Nanum Gothic"/>
                <a:cs typeface="Nanum Gothic"/>
                <a:sym typeface="Nanum Gothic"/>
              </a:rPr>
              <a:t>편집 중 실행</a:t>
            </a:r>
            <a:endParaRPr b="1" i="0" sz="1600" u="none" cap="none" strike="noStrike">
              <a:solidFill>
                <a:schemeClr val="dk2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171" name="Google Shape;171;g3e332a3eccb_0_153"/>
          <p:cNvSpPr txBox="1"/>
          <p:nvPr/>
        </p:nvSpPr>
        <p:spPr>
          <a:xfrm>
            <a:off x="6011015" y="1578969"/>
            <a:ext cx="2337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Nanum Gothic"/>
                <a:ea typeface="Nanum Gothic"/>
                <a:cs typeface="Nanum Gothic"/>
                <a:sym typeface="Nanum Gothic"/>
              </a:rPr>
              <a:t>BETA 실행 모니터링</a:t>
            </a:r>
            <a:endParaRPr b="1" i="0" sz="1600" u="none" cap="none" strike="noStrike">
              <a:solidFill>
                <a:schemeClr val="dk2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72" name="Google Shape;172;g3e332a3eccb_0_1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5033" y="2160019"/>
            <a:ext cx="5772600" cy="3554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e332a3eccb_0_1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644" y="2169192"/>
            <a:ext cx="5424000" cy="350389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e332a3eccb_0_153"/>
          <p:cNvSpPr/>
          <p:nvPr/>
        </p:nvSpPr>
        <p:spPr>
          <a:xfrm>
            <a:off x="548640" y="713232"/>
            <a:ext cx="10972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편집 중 실행  vs. BETA 실행 모니터링</a:t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e332a3eccb_0_153"/>
          <p:cNvSpPr/>
          <p:nvPr/>
        </p:nvSpPr>
        <p:spPr>
          <a:xfrm>
            <a:off x="548640" y="41148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PRODUCT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g3e332a3eccb_0_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600" y="2119331"/>
            <a:ext cx="5522801" cy="3912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e332a3eccb_0_1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1" y="2124698"/>
            <a:ext cx="5786501" cy="4029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e332a3eccb_0_162"/>
          <p:cNvSpPr txBox="1"/>
          <p:nvPr/>
        </p:nvSpPr>
        <p:spPr>
          <a:xfrm>
            <a:off x="302207" y="1564237"/>
            <a:ext cx="23499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Nanum Gothic"/>
                <a:ea typeface="Nanum Gothic"/>
                <a:cs typeface="Nanum Gothic"/>
                <a:sym typeface="Nanum Gothic"/>
              </a:rPr>
              <a:t>퇴직연금 DB Agent</a:t>
            </a:r>
            <a:endParaRPr b="0" i="0" sz="1600" u="none" cap="none" strike="noStrike">
              <a:solidFill>
                <a:schemeClr val="dk2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183" name="Google Shape;183;g3e332a3eccb_0_162"/>
          <p:cNvSpPr txBox="1"/>
          <p:nvPr/>
        </p:nvSpPr>
        <p:spPr>
          <a:xfrm>
            <a:off x="5982607" y="1564237"/>
            <a:ext cx="23499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Nanum Gothic"/>
                <a:ea typeface="Nanum Gothic"/>
                <a:cs typeface="Nanum Gothic"/>
                <a:sym typeface="Nanum Gothic"/>
              </a:rPr>
              <a:t>당원관리 DB Agent</a:t>
            </a:r>
            <a:endParaRPr b="0" i="0" sz="1600" u="none" cap="none" strike="noStrike">
              <a:solidFill>
                <a:schemeClr val="dk2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184" name="Google Shape;184;g3e332a3eccb_0_162"/>
          <p:cNvSpPr/>
          <p:nvPr/>
        </p:nvSpPr>
        <p:spPr>
          <a:xfrm>
            <a:off x="548640" y="713232"/>
            <a:ext cx="10972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자연어 기반 RDB Agent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e332a3eccb_0_162"/>
          <p:cNvSpPr/>
          <p:nvPr/>
        </p:nvSpPr>
        <p:spPr>
          <a:xfrm>
            <a:off x="548640" y="41148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PRODUCT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DeepCube.AI Agentic Service Platform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548640" y="1828800"/>
            <a:ext cx="3566160" cy="402336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822960" y="20116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822960" y="2423160"/>
            <a:ext cx="30175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960120" y="25603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Agent 제작자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960120" y="29260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시나리오 설계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822960" y="3520440"/>
            <a:ext cx="30175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960120" y="36576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End User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960120" y="40233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서비스 사용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822960" y="4617720"/>
            <a:ext cx="30175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960120" y="47548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Service 개발자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960120" y="51206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Legacy 연동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4389120" y="1828800"/>
            <a:ext cx="3566160" cy="402336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4663440" y="20116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DEEPCUBE.AI PLATFORM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4663440" y="2423160"/>
            <a:ext cx="3017520" cy="640080"/>
          </a:xfrm>
          <a:prstGeom prst="roundRect">
            <a:avLst>
              <a:gd fmla="val 8571" name="adj"/>
            </a:avLst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4846320" y="246888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Editor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846320" y="276148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FAFE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CFFAFE"/>
                </a:solidFill>
                <a:latin typeface="Malgun Gothic"/>
                <a:ea typeface="Malgun Gothic"/>
                <a:cs typeface="Malgun Gothic"/>
                <a:sym typeface="Malgun Gothic"/>
              </a:rPr>
              <a:t>GUI Studio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663440" y="3200400"/>
            <a:ext cx="3017520" cy="640080"/>
          </a:xfrm>
          <a:prstGeom prst="roundRect">
            <a:avLst>
              <a:gd fmla="val 8571" name="adj"/>
            </a:avLst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4846320" y="324612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Flow Engine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846320" y="353872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FAFE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CFFAFE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Prompt → Tools → LLM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663440" y="3977640"/>
            <a:ext cx="3017520" cy="640080"/>
          </a:xfrm>
          <a:prstGeom prst="roundRect">
            <a:avLst>
              <a:gd fmla="val 8571" name="adj"/>
            </a:avLst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4846320" y="402336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Portal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4846320" y="431596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FAFE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CFFAFE"/>
                </a:solidFill>
                <a:latin typeface="Malgun Gothic"/>
                <a:ea typeface="Malgun Gothic"/>
                <a:cs typeface="Malgun Gothic"/>
                <a:sym typeface="Malgun Gothic"/>
              </a:rPr>
              <a:t>Admin / Monitor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663440" y="4754880"/>
            <a:ext cx="3017520" cy="640080"/>
          </a:xfrm>
          <a:prstGeom prst="roundRect">
            <a:avLst>
              <a:gd fmla="val 8571" name="adj"/>
            </a:avLst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4846320" y="480060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RAGBuilder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4846320" y="509320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FAFE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CFFAFE"/>
                </a:solidFill>
                <a:latin typeface="Malgun Gothic"/>
                <a:ea typeface="Malgun Gothic"/>
                <a:cs typeface="Malgun Gothic"/>
                <a:sym typeface="Malgun Gothic"/>
              </a:rPr>
              <a:t>Vector DB + Doc 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8229600" y="1828800"/>
            <a:ext cx="3566160" cy="402336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8503920" y="20116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MCP CONNECTORS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8503920" y="2423160"/>
            <a:ext cx="3017520" cy="640080"/>
          </a:xfrm>
          <a:prstGeom prst="roundRect">
            <a:avLst>
              <a:gd fmla="val 8571" name="adj"/>
            </a:avLst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8686800" y="246888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DataBase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8686800" y="276148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RDB 직결 (Oracle, MariaDB ...)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8503920" y="3200400"/>
            <a:ext cx="3017520" cy="64008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8686800" y="324612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Web Search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8686800" y="353872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검색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8503920" y="3977640"/>
            <a:ext cx="3017520" cy="64008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8686800" y="402336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 System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8686800" y="431596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 시스템 접근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8503920" y="4754880"/>
            <a:ext cx="3017520" cy="64008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8686800" y="480060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API &amp; Etc.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8686800" y="509320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Restful API · Legacy 연동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7"/>
          <p:cNvCxnSpPr/>
          <p:nvPr/>
        </p:nvCxnSpPr>
        <p:spPr>
          <a:xfrm>
            <a:off x="4114800" y="379476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3" name="Google Shape;233;p7"/>
          <p:cNvCxnSpPr/>
          <p:nvPr/>
        </p:nvCxnSpPr>
        <p:spPr>
          <a:xfrm>
            <a:off x="7955280" y="361188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4" name="Google Shape;234;p7"/>
          <p:cNvSpPr/>
          <p:nvPr/>
        </p:nvSpPr>
        <p:spPr>
          <a:xfrm>
            <a:off x="7863840" y="32918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MCP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p7"/>
          <p:cNvCxnSpPr/>
          <p:nvPr/>
        </p:nvCxnSpPr>
        <p:spPr>
          <a:xfrm rot="10800000">
            <a:off x="7955280" y="397764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FLAGSHIP MODULE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자연어 기반 RDB Agent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548640" y="1691640"/>
            <a:ext cx="11064240" cy="77724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822960" y="169164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자연어 질문 → SQL 자동 생성 → 사용자 검토·수정 → 승인 실행 → 비즈니스 인사이트 자동 도출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662940" y="2743200"/>
            <a:ext cx="1691640" cy="1554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1307592" y="2926080"/>
            <a:ext cx="402336" cy="402336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1307592" y="292608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754380" y="342900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질의 입력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754380" y="3794760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자연어로 질문 입력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" name="Google Shape;250;p8"/>
          <p:cNvCxnSpPr/>
          <p:nvPr/>
        </p:nvCxnSpPr>
        <p:spPr>
          <a:xfrm>
            <a:off x="2354580" y="3127248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1" name="Google Shape;251;p8"/>
          <p:cNvSpPr/>
          <p:nvPr/>
        </p:nvSpPr>
        <p:spPr>
          <a:xfrm>
            <a:off x="2491740" y="2743200"/>
            <a:ext cx="1691640" cy="1554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3136392" y="2926080"/>
            <a:ext cx="402336" cy="402336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3136392" y="292608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2583180" y="342900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적절성 검증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2583180" y="3794760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악의/모호 질의 차단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p8"/>
          <p:cNvCxnSpPr/>
          <p:nvPr/>
        </p:nvCxnSpPr>
        <p:spPr>
          <a:xfrm>
            <a:off x="4183380" y="3127248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7" name="Google Shape;257;p8"/>
          <p:cNvSpPr/>
          <p:nvPr/>
        </p:nvSpPr>
        <p:spPr>
          <a:xfrm>
            <a:off x="4320540" y="2743200"/>
            <a:ext cx="1691640" cy="1554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4965192" y="2926080"/>
            <a:ext cx="402336" cy="402336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4965192" y="292608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4411980" y="342900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 생성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4411980" y="3794760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MCP로 스키마 인지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8"/>
          <p:cNvCxnSpPr/>
          <p:nvPr/>
        </p:nvCxnSpPr>
        <p:spPr>
          <a:xfrm>
            <a:off x="6012180" y="3127248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3" name="Google Shape;263;p8"/>
          <p:cNvSpPr/>
          <p:nvPr/>
        </p:nvSpPr>
        <p:spPr>
          <a:xfrm>
            <a:off x="6149340" y="2743200"/>
            <a:ext cx="1691640" cy="1554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6793992" y="2926080"/>
            <a:ext cx="402336" cy="402336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6793992" y="292608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6240780" y="342900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검토·수정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6240780" y="3794760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SQL 편집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8"/>
          <p:cNvCxnSpPr/>
          <p:nvPr/>
        </p:nvCxnSpPr>
        <p:spPr>
          <a:xfrm>
            <a:off x="7840980" y="3127248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9" name="Google Shape;269;p8"/>
          <p:cNvSpPr/>
          <p:nvPr/>
        </p:nvSpPr>
        <p:spPr>
          <a:xfrm>
            <a:off x="7978140" y="2743200"/>
            <a:ext cx="1691640" cy="1554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8622792" y="2926080"/>
            <a:ext cx="402336" cy="402336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8622792" y="292608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8069580" y="342900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승인·실행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8069580" y="3794760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 DB에 안전 실행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8"/>
          <p:cNvCxnSpPr/>
          <p:nvPr/>
        </p:nvCxnSpPr>
        <p:spPr>
          <a:xfrm>
            <a:off x="9669780" y="3127248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5" name="Google Shape;275;p8"/>
          <p:cNvSpPr/>
          <p:nvPr/>
        </p:nvSpPr>
        <p:spPr>
          <a:xfrm>
            <a:off x="9806940" y="2743200"/>
            <a:ext cx="1691640" cy="15544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10451592" y="2926080"/>
            <a:ext cx="402336" cy="402336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10451592" y="292608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9898380" y="342900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인사이트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9898380" y="3794760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분석·권장사항 도출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548640" y="461772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REFERENCE USE CASES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548640" y="4937760"/>
            <a:ext cx="3511296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548640" y="4937760"/>
            <a:ext cx="54864" cy="109728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731520" y="498348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9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0E749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 — 보험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731520" y="523036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퇴직연금 DB Agent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731520" y="5550408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Malgun Gothic"/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"DC형 퇴직연금 운영 회사들의 납입률과 잔액 현황은?"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4242816" y="4937760"/>
            <a:ext cx="3511296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4242816" y="4937760"/>
            <a:ext cx="54864" cy="109728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4425696" y="498348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9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0E749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 — 정치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4425696" y="523036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당원관리 DB Agent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4425696" y="5550408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Malgun Gothic"/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"최근 3개월 지역별 납부중지 요청 현황은?"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7936992" y="4937760"/>
            <a:ext cx="3511296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7936992" y="4937760"/>
            <a:ext cx="54864" cy="109728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8119872" y="498348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9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0E749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가상자산 컴플라이언스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8119872" y="523036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GDAC 불법거래감시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8119872" y="5550408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Malgun Gothic"/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"의심 거래 패턴 추적 정책 검색"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"/>
          <p:cNvSpPr/>
          <p:nvPr/>
        </p:nvSpPr>
        <p:spPr>
          <a:xfrm>
            <a:off x="3933100" y="2564925"/>
            <a:ext cx="3456600" cy="2615100"/>
          </a:xfrm>
          <a:prstGeom prst="ellipse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GO-TO-MARKET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IP 본사 + 3채널 다중 GTM 모델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white.png" id="304" name="Google Shape;30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3699" y="2890601"/>
            <a:ext cx="635151" cy="77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9"/>
          <p:cNvSpPr/>
          <p:nvPr/>
        </p:nvSpPr>
        <p:spPr>
          <a:xfrm>
            <a:off x="4518392" y="3712498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DeepCube.AI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4518392" y="4060488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IP · 기술 본사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548640" y="1691640"/>
            <a:ext cx="4572000" cy="14173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548640" y="1691640"/>
            <a:ext cx="73152" cy="14173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777240" y="180136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CHANNEL ①  OEM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777240" y="20574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SKAI Worldwide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777240" y="244144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코스닥 357880 · AI/DB 솔루션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777240" y="2743200"/>
            <a:ext cx="2194560" cy="27432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777240" y="27432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협업 진행 중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3017520" y="27432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 / B2G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6492240" y="1691640"/>
            <a:ext cx="4572000" cy="14173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6492240" y="1691640"/>
            <a:ext cx="73152" cy="14173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6720840" y="180136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CHANNEL ②  컨설팅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6720840" y="20574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Deloitte 안진회계법인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6720840" y="244144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Big 4 · AX 컨설팅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6720840" y="2743200"/>
            <a:ext cx="2194560" cy="2743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6720840" y="27432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교육 완료 · H2 협업 예정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8961120" y="27432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대기업 · 금융 AX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548640" y="4572000"/>
            <a:ext cx="4572000" cy="14173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548640" y="4572000"/>
            <a:ext cx="73152" cy="14173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777240" y="468172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CHANNEL ③  솔루션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777240" y="49377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교보DTS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777240" y="532180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교보생명 IT 자회사 · 국내 1호 IT 서비스사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777240" y="5623560"/>
            <a:ext cx="2194560" cy="2743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777240" y="56235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MOU 예정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3017520" y="56235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 · 보험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6492240" y="4572000"/>
            <a:ext cx="4572000" cy="14173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6492240" y="4572000"/>
            <a:ext cx="73152" cy="14173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6720840" y="468172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DIRECT  ·  레퍼런스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6720840" y="49377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DB생명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6720840" y="532180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직접 PoC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6720840" y="5623560"/>
            <a:ext cx="2194560" cy="27432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6720840" y="56235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PoC 진행 중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8961120" y="56235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 앵커 레퍼런스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TRACTION &amp; PIPELINE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채널별 진행 단계와 다음 마일스톤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685800" y="17373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2788920" y="17373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파트너 / 고객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5349240" y="17373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7543800" y="173736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도메인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9281160" y="17373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 Milestone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548640" y="2240280"/>
            <a:ext cx="11064240" cy="6858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685800" y="2441448"/>
            <a:ext cx="1828800" cy="292608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685800" y="244144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협업 진행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2788920" y="224028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SKAI Worldwide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5349240" y="224028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OEM 납품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7543800" y="2240280"/>
            <a:ext cx="1463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0E749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 / B2G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9281160" y="2240280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첫 공공 레퍼런스 확보 (2026 H2)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548640" y="2971800"/>
            <a:ext cx="1106424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685800" y="3172968"/>
            <a:ext cx="1828800" cy="29260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685800" y="31729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교육 완료 · 협업 예정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2788920" y="297180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Deloitte Anjin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5349240" y="297180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컨설팅 추천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7543800" y="2971800"/>
            <a:ext cx="1463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0E749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대기업 AX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9281160" y="2971800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H2 공동사업 발진 (2026 H2)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548640" y="3703320"/>
            <a:ext cx="11064240" cy="6858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685800" y="3904488"/>
            <a:ext cx="1828800" cy="29260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685800" y="390448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MOU 예정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2788920" y="370332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교보DTS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5349240" y="370332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솔루션 라이선싱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7543800" y="3703320"/>
            <a:ext cx="1463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0E749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 · 보험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9281160" y="3703320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국내 판권 + 공동 개발 (AIFT 선례)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548640" y="4434840"/>
            <a:ext cx="1106424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685800" y="4636008"/>
            <a:ext cx="1828800" cy="292608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685800" y="463600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PoC 진행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2788920" y="443484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DB생명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5349240" y="443484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직접 고객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7543800" y="4434840"/>
            <a:ext cx="1463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0E749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 앵커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9281160" y="4434840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PoC 완료 → 사례화 → 보험 도미노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548640" y="5486400"/>
            <a:ext cx="5440680" cy="777240"/>
          </a:xfrm>
          <a:prstGeom prst="rect">
            <a:avLst/>
          </a:prstGeom>
          <a:solidFill>
            <a:srgbClr val="CFFAFE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731520" y="5532120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0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보험 도미노 잠재력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731520" y="5806440"/>
            <a:ext cx="5074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교보DTS(상위권 캡티브) + DB생명(직접 PoC)이 동시에 가동 — 성공 시 보험 업계 빠른 확산 가능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6172200" y="5486400"/>
            <a:ext cx="5440680" cy="777240"/>
          </a:xfrm>
          <a:prstGeom prst="rect">
            <a:avLst/>
          </a:prstGeom>
          <a:solidFill>
            <a:srgbClr val="CFFAFE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6355080" y="5532120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0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자본 확충 옵션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6355080" y="5806440"/>
            <a:ext cx="5074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교보DTS MOU는 2025년 AIFT 선례(판권+공동개발+전략적 투자) 경로 진입 가능성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-white.png" id="391" name="Google Shape;3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960120"/>
            <a:ext cx="3586483" cy="438912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3"/>
          <p:cNvSpPr/>
          <p:nvPr/>
        </p:nvSpPr>
        <p:spPr>
          <a:xfrm>
            <a:off x="5029200" y="2194560"/>
            <a:ext cx="7315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Malgun Gothic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5029200" y="33832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200"/>
              <a:buFont typeface="Malgun Gothic"/>
              <a:buNone/>
            </a:pPr>
            <a:r>
              <a:rPr b="0" i="1" lang="en-US" sz="22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Thank you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4" name="Google Shape;394;p13"/>
          <p:cNvCxnSpPr/>
          <p:nvPr/>
        </p:nvCxnSpPr>
        <p:spPr>
          <a:xfrm>
            <a:off x="5029200" y="4297680"/>
            <a:ext cx="5486400" cy="0"/>
          </a:xfrm>
          <a:prstGeom prst="straightConnector1">
            <a:avLst/>
          </a:prstGeom>
          <a:noFill/>
          <a:ln cap="flat" cmpd="sng" w="19050">
            <a:solidFill>
              <a:srgbClr val="FE75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5" name="Google Shape;395;p13"/>
          <p:cNvSpPr/>
          <p:nvPr/>
        </p:nvSpPr>
        <p:spPr>
          <a:xfrm>
            <a:off x="5029200" y="4434840"/>
            <a:ext cx="6400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전성욱  ·  Ted Jeon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0891B2"/>
                </a:solidFill>
                <a:latin typeface="Malgun Gothic"/>
                <a:ea typeface="Malgun Gothic"/>
                <a:cs typeface="Malgun Gothic"/>
                <a:sym typeface="Malgun Gothic"/>
              </a:rPr>
              <a:t>CEO, DeepCube, Inc.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010-2380-0764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ted.jeon@deep3ai.com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www.deep3ai.com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white.png" id="396" name="Google Shape;39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53" y="6192241"/>
            <a:ext cx="241829" cy="29594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3"/>
          <p:cNvSpPr/>
          <p:nvPr/>
        </p:nvSpPr>
        <p:spPr>
          <a:xfrm>
            <a:off x="968051" y="6168564"/>
            <a:ext cx="59190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95"/>
              <a:buFont typeface="Malgun Gothic"/>
              <a:buNone/>
            </a:pPr>
            <a:r>
              <a:rPr b="1" i="0" lang="en-US" sz="140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(주)딥큐브  |  DeepCube, Inc.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2026-05-19T08:17:21Z</dcterms:created>
  <dc:creator>DeepCube, Inc.</dc:creator>
</cp:coreProperties>
</file>